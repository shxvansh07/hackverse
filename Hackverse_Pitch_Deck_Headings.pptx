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572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220">
                <a:solidFill>
                  <a:srgbClr val="035582"/>
                </a:solidFill>
                <a:latin typeface="Segoe UI"/>
              </a:rPr>
              <a:t>01 — 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21821"/>
                </a:solidFill>
                <a:latin typeface="Segoe UI"/>
              </a:rPr>
              <a:t>Multilingual AI Clinical Assistant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481328"/>
            <a:ext cx="11002975" cy="0"/>
          </a:xfrm>
          <a:prstGeom prst="line">
            <a:avLst/>
          </a:prstGeom>
          <a:ln w="12700">
            <a:solidFill>
              <a:srgbClr val="E1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1627632"/>
            <a:ext cx="105156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C697A"/>
                </a:solidFill>
                <a:latin typeface="Segoe UI"/>
              </a:rPr>
              <a:t>Patients describe symptoms in their own language. A doctor decides every prescription.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2286000"/>
            <a:ext cx="5212080" cy="1965960"/>
          </a:xfrm>
          <a:prstGeom prst="rect">
            <a:avLst/>
          </a:prstGeom>
          <a:solidFill>
            <a:srgbClr val="F9FAFB"/>
          </a:solidFill>
          <a:ln w="9525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47548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140">
                <a:solidFill>
                  <a:srgbClr val="B42227"/>
                </a:solidFill>
                <a:latin typeface="Segoe UI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88920"/>
            <a:ext cx="4754880" cy="9004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dirty="0">
                <a:solidFill>
                  <a:srgbClr val="121821"/>
                </a:solidFill>
                <a:latin typeface="Segoe UI"/>
              </a:rPr>
              <a:t>One doctor per 1,700 people, English-only tools, no view into similar past cases.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2286000"/>
            <a:ext cx="5212080" cy="1965960"/>
          </a:xfrm>
          <a:prstGeom prst="rect">
            <a:avLst/>
          </a:prstGeom>
          <a:solidFill>
            <a:srgbClr val="F9FAFB"/>
          </a:solidFill>
          <a:ln w="9525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2468880"/>
            <a:ext cx="47548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140">
                <a:solidFill>
                  <a:srgbClr val="035582"/>
                </a:solidFill>
                <a:latin typeface="Segoe UI"/>
              </a:rPr>
              <a:t>WHO IT'S FOR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788920"/>
            <a:ext cx="475488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121821"/>
                </a:solidFill>
                <a:latin typeface="Segoe UI"/>
              </a:rPr>
              <a:t>Multilingual patients, primary-care doctors, small clinics, and returning patients with history.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4434840"/>
            <a:ext cx="5212080" cy="1965960"/>
          </a:xfrm>
          <a:prstGeom prst="rect">
            <a:avLst/>
          </a:prstGeom>
          <a:solidFill>
            <a:srgbClr val="F9FAFB"/>
          </a:solidFill>
          <a:ln w="9525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4617720"/>
            <a:ext cx="47548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140">
                <a:solidFill>
                  <a:srgbClr val="633993"/>
                </a:solidFill>
                <a:latin typeface="Segoe UI"/>
              </a:rPr>
              <a:t>WHAT IT DOES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937760"/>
            <a:ext cx="4754880" cy="9004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dirty="0">
                <a:solidFill>
                  <a:srgbClr val="121821"/>
                </a:solidFill>
                <a:latin typeface="Segoe UI"/>
              </a:rPr>
              <a:t>Intake -&gt; safety triage -&gt; draft prescription -&gt; doctor review -&gt; translated release.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4434840"/>
            <a:ext cx="5212080" cy="1965960"/>
          </a:xfrm>
          <a:prstGeom prst="rect">
            <a:avLst/>
          </a:prstGeom>
          <a:solidFill>
            <a:srgbClr val="F9FAFB"/>
          </a:solidFill>
          <a:ln w="9525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4617720"/>
            <a:ext cx="47548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140">
                <a:solidFill>
                  <a:srgbClr val="1C6945"/>
                </a:solidFill>
                <a:latin typeface="Segoe UI"/>
              </a:rPr>
              <a:t>WHY IT PAYS OFF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937760"/>
            <a:ext cx="475488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121821"/>
                </a:solidFill>
                <a:latin typeface="Segoe UI"/>
              </a:rPr>
              <a:t>One structured summary per case; medication always drawn from a curated formulary.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1967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spc="150">
                <a:solidFill>
                  <a:srgbClr val="8792A1"/>
                </a:solidFill>
                <a:latin typeface="Segoe UI"/>
              </a:rPr>
              <a:t>MULTILINGUAL AI CLINICAL ASSISTANT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82935" y="651967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spc="150">
                <a:solidFill>
                  <a:srgbClr val="8792A1"/>
                </a:solidFill>
                <a:latin typeface="Segoe UI"/>
              </a:rPr>
              <a:t>01 / 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572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220">
                <a:solidFill>
                  <a:srgbClr val="035582"/>
                </a:solidFill>
                <a:latin typeface="Segoe UI"/>
              </a:rPr>
              <a:t>02 — INNOVATION &amp;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21821"/>
                </a:solidFill>
                <a:latin typeface="Segoe UI"/>
              </a:rPr>
              <a:t>The AI drafts. The doctor decides.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481328"/>
            <a:ext cx="11002975" cy="0"/>
          </a:xfrm>
          <a:prstGeom prst="line">
            <a:avLst/>
          </a:prstGeom>
          <a:ln w="12700">
            <a:solidFill>
              <a:srgbClr val="E1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1783080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140">
                <a:solidFill>
                  <a:srgbClr val="035582"/>
                </a:solidFill>
                <a:latin typeface="Segoe UI"/>
              </a:rPr>
              <a:t>WHAT'S ACTUALLY NEW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148840"/>
            <a:ext cx="502920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1300" b="0">
                <a:solidFill>
                  <a:srgbClr val="121821"/>
                </a:solidFill>
                <a:latin typeface="Segoe UI"/>
              </a:rPr>
              <a:t>A deterministic engine, not the LLM, has the final say on risk.</a:t>
            </a:r>
          </a:p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1300" b="0">
                <a:solidFill>
                  <a:srgbClr val="121821"/>
                </a:solidFill>
                <a:latin typeface="Segoe UI"/>
              </a:rPr>
              <a:t>Prescriptions come verbatim from a curated formulary; the LLM only writes rationale.</a:t>
            </a:r>
          </a:p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1300" b="0">
                <a:solidFill>
                  <a:srgbClr val="121821"/>
                </a:solidFill>
                <a:latin typeface="Segoe UI"/>
              </a:rPr>
              <a:t>De-identified similar-case retrieval shows how other doctors handled comparable cases.</a:t>
            </a:r>
          </a:p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1300" b="0">
                <a:solidFill>
                  <a:srgbClr val="121821"/>
                </a:solidFill>
                <a:latin typeface="Segoe UI"/>
              </a:rPr>
              <a:t>Live consultation mode turns the doctor's device into a real-time interpreter and scribe.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080760" y="1783080"/>
            <a:ext cx="5212080" cy="4343400"/>
          </a:xfrm>
          <a:prstGeom prst="rect">
            <a:avLst/>
          </a:prstGeom>
          <a:solidFill>
            <a:srgbClr val="ECF8FE"/>
          </a:solidFill>
          <a:ln w="9525">
            <a:solidFill>
              <a:srgbClr val="CBD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55080" y="2011680"/>
            <a:ext cx="46634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140">
                <a:solidFill>
                  <a:srgbClr val="035582"/>
                </a:solidFill>
                <a:latin typeface="Segoe UI"/>
              </a:rPr>
              <a:t>REQUEST FLOW</a:t>
            </a:r>
          </a:p>
        </p:txBody>
      </p:sp>
      <p:sp>
        <p:nvSpPr>
          <p:cNvPr id="9" name="Oval 8"/>
          <p:cNvSpPr/>
          <p:nvPr/>
        </p:nvSpPr>
        <p:spPr>
          <a:xfrm>
            <a:off x="6355080" y="2496312"/>
            <a:ext cx="128016" cy="128016"/>
          </a:xfrm>
          <a:prstGeom prst="ellipse">
            <a:avLst/>
          </a:prstGeom>
          <a:solidFill>
            <a:srgbClr val="0355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11112" y="2441448"/>
            <a:ext cx="43891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21821"/>
                </a:solidFill>
                <a:latin typeface="Segoe UI"/>
              </a:rPr>
              <a:t>Patient — chat or voice, 8 languages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414516" y="2670048"/>
            <a:ext cx="914" cy="0"/>
          </a:xfrm>
          <a:prstGeom prst="line">
            <a:avLst/>
          </a:prstGeom>
          <a:ln w="12700">
            <a:solidFill>
              <a:srgbClr val="CBD0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6355080" y="3008376"/>
            <a:ext cx="128016" cy="128016"/>
          </a:xfrm>
          <a:prstGeom prst="ellipse">
            <a:avLst/>
          </a:prstGeom>
          <a:solidFill>
            <a:srgbClr val="0355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11112" y="2953512"/>
            <a:ext cx="43891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21821"/>
                </a:solidFill>
                <a:latin typeface="Segoe UI"/>
              </a:rPr>
              <a:t>LLM extraction — structured facts only, never a diagnosis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414516" y="3182112"/>
            <a:ext cx="914" cy="0"/>
          </a:xfrm>
          <a:prstGeom prst="line">
            <a:avLst/>
          </a:prstGeom>
          <a:ln w="12700">
            <a:solidFill>
              <a:srgbClr val="CBD0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6355080" y="3520440"/>
            <a:ext cx="128016" cy="128016"/>
          </a:xfrm>
          <a:prstGeom prst="ellipse">
            <a:avLst/>
          </a:prstGeom>
          <a:solidFill>
            <a:srgbClr val="0355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11112" y="3465576"/>
            <a:ext cx="43891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21821"/>
                </a:solidFill>
                <a:latin typeface="Segoe UI"/>
              </a:rPr>
              <a:t>Deterministic safety engine — LOW_RISK / UNCERTAIN / URGENT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414516" y="3694176"/>
            <a:ext cx="914" cy="0"/>
          </a:xfrm>
          <a:prstGeom prst="line">
            <a:avLst/>
          </a:prstGeom>
          <a:ln w="12700">
            <a:solidFill>
              <a:srgbClr val="CBD0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6355080" y="4032504"/>
            <a:ext cx="128016" cy="128016"/>
          </a:xfrm>
          <a:prstGeom prst="ellipse">
            <a:avLst/>
          </a:prstGeom>
          <a:solidFill>
            <a:srgbClr val="0355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11112" y="3977640"/>
            <a:ext cx="43891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21821"/>
                </a:solidFill>
                <a:latin typeface="Segoe UI"/>
              </a:rPr>
              <a:t>RAG retrieval — TF-IDF formulary match, ML tie-break only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14516" y="4206240"/>
            <a:ext cx="914" cy="0"/>
          </a:xfrm>
          <a:prstGeom prst="line">
            <a:avLst/>
          </a:prstGeom>
          <a:ln w="12700">
            <a:solidFill>
              <a:srgbClr val="CBD0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6355080" y="4544568"/>
            <a:ext cx="128016" cy="128016"/>
          </a:xfrm>
          <a:prstGeom prst="ellipse">
            <a:avLst/>
          </a:prstGeom>
          <a:solidFill>
            <a:srgbClr val="0355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11112" y="4489704"/>
            <a:ext cx="43891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21821"/>
                </a:solidFill>
                <a:latin typeface="Segoe UI"/>
              </a:rPr>
              <a:t>Doctor review — approve, modify, refer, or escalate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414516" y="4718304"/>
            <a:ext cx="914" cy="0"/>
          </a:xfrm>
          <a:prstGeom prst="line">
            <a:avLst/>
          </a:prstGeom>
          <a:ln w="12700">
            <a:solidFill>
              <a:srgbClr val="CBD0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6355080" y="5056632"/>
            <a:ext cx="128016" cy="128016"/>
          </a:xfrm>
          <a:prstGeom prst="ellipse">
            <a:avLst/>
          </a:prstGeom>
          <a:solidFill>
            <a:srgbClr val="0355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11112" y="5001768"/>
            <a:ext cx="43891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21821"/>
                </a:solidFill>
                <a:latin typeface="Segoe UI"/>
              </a:rPr>
              <a:t>Translated release — back to the patient, doctor-gated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5696712"/>
            <a:ext cx="4663440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dirty="0">
                <a:solidFill>
                  <a:srgbClr val="8792A1"/>
                </a:solidFill>
                <a:latin typeface="Segoe UI"/>
              </a:rPr>
              <a:t>Providers: IBM Granite (primary) - </a:t>
            </a:r>
            <a:r>
              <a:rPr sz="1050" b="0" dirty="0" err="1">
                <a:solidFill>
                  <a:srgbClr val="8792A1"/>
                </a:solidFill>
                <a:latin typeface="Segoe UI"/>
              </a:rPr>
              <a:t>Groq</a:t>
            </a:r>
            <a:r>
              <a:rPr sz="1050" b="0" dirty="0">
                <a:solidFill>
                  <a:srgbClr val="8792A1"/>
                </a:solidFill>
                <a:latin typeface="Segoe UI"/>
              </a:rPr>
              <a:t> -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1967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spc="150">
                <a:solidFill>
                  <a:srgbClr val="8792A1"/>
                </a:solidFill>
                <a:latin typeface="Segoe UI"/>
              </a:rPr>
              <a:t>MULTILINGUAL AI CLINICAL ASSISTANT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82935" y="651967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spc="150">
                <a:solidFill>
                  <a:srgbClr val="8792A1"/>
                </a:solidFill>
                <a:latin typeface="Segoe UI"/>
              </a:rPr>
              <a:t>02 / 04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572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220">
                <a:solidFill>
                  <a:srgbClr val="035582"/>
                </a:solidFill>
                <a:latin typeface="Segoe UI"/>
              </a:rPr>
              <a:t>03 — TECHNICAL DEPTH: NON-FUNCTIONAL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21821"/>
                </a:solidFill>
                <a:latin typeface="Segoe UI"/>
              </a:rPr>
              <a:t>Built to fail closed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481328"/>
            <a:ext cx="11002975" cy="0"/>
          </a:xfrm>
          <a:prstGeom prst="line">
            <a:avLst/>
          </a:prstGeom>
          <a:ln w="12700">
            <a:solidFill>
              <a:srgbClr val="E1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94360" y="1783080"/>
            <a:ext cx="3310128" cy="2148840"/>
          </a:xfrm>
          <a:prstGeom prst="rect">
            <a:avLst/>
          </a:prstGeom>
          <a:solidFill>
            <a:srgbClr val="F9FAFB"/>
          </a:solidFill>
          <a:ln w="9525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5528" y="1965960"/>
            <a:ext cx="290779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140">
                <a:solidFill>
                  <a:srgbClr val="035582"/>
                </a:solidFill>
                <a:latin typeface="Segoe UI"/>
              </a:rPr>
              <a:t>PROMPT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2313432"/>
            <a:ext cx="2907792" cy="6417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dirty="0">
                <a:solidFill>
                  <a:srgbClr val="121821"/>
                </a:solidFill>
                <a:latin typeface="Segoe UI"/>
              </a:rPr>
              <a:t>Extraction prompts never diagnose; rationale prompts never select a drug.</a:t>
            </a:r>
          </a:p>
        </p:txBody>
      </p:sp>
      <p:sp>
        <p:nvSpPr>
          <p:cNvPr id="8" name="Rectangle 7"/>
          <p:cNvSpPr/>
          <p:nvPr/>
        </p:nvSpPr>
        <p:spPr>
          <a:xfrm>
            <a:off x="4087368" y="1783080"/>
            <a:ext cx="3310128" cy="2148840"/>
          </a:xfrm>
          <a:prstGeom prst="rect">
            <a:avLst/>
          </a:prstGeom>
          <a:solidFill>
            <a:srgbClr val="F9FAFB"/>
          </a:solidFill>
          <a:ln w="9525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88536" y="1965960"/>
            <a:ext cx="290779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140">
                <a:solidFill>
                  <a:srgbClr val="035582"/>
                </a:solidFill>
                <a:latin typeface="Segoe UI"/>
              </a:rPr>
              <a:t>HALLUCINATION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88536" y="2313432"/>
            <a:ext cx="2907792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121821"/>
                </a:solidFill>
                <a:latin typeface="Segoe UI"/>
              </a:rPr>
              <a:t>JSON-mode output, temperature 0, additive-only merges — medications copied, never generated.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80376" y="1783080"/>
            <a:ext cx="3310128" cy="2148840"/>
          </a:xfrm>
          <a:prstGeom prst="rect">
            <a:avLst/>
          </a:prstGeom>
          <a:solidFill>
            <a:srgbClr val="F9FAFB"/>
          </a:solidFill>
          <a:ln w="9525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81544" y="1965960"/>
            <a:ext cx="290779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140">
                <a:solidFill>
                  <a:srgbClr val="035582"/>
                </a:solidFill>
                <a:latin typeface="Segoe UI"/>
              </a:rPr>
              <a:t>RELIABILITY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81544" y="2313432"/>
            <a:ext cx="2907792" cy="8629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IN" sz="1150" dirty="0">
                <a:solidFill>
                  <a:srgbClr val="121821"/>
                </a:solidFill>
                <a:latin typeface="Segoe UI"/>
              </a:rPr>
              <a:t>Multi-provider fallback chain, plus an offline deterministic question bank.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4160520"/>
            <a:ext cx="3310128" cy="2148840"/>
          </a:xfrm>
          <a:prstGeom prst="rect">
            <a:avLst/>
          </a:prstGeom>
          <a:solidFill>
            <a:srgbClr val="F9FAFB"/>
          </a:solidFill>
          <a:ln w="9525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5528" y="4343400"/>
            <a:ext cx="290779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140">
                <a:solidFill>
                  <a:srgbClr val="035582"/>
                </a:solidFill>
                <a:latin typeface="Segoe UI"/>
              </a:rPr>
              <a:t>AGENT RELIABILITY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" y="4690872"/>
            <a:ext cx="2907792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121821"/>
                </a:solidFill>
                <a:latin typeface="Segoe UI"/>
              </a:rPr>
              <a:t>One safety engine runs identically across intake, live consultation, and re-assessment.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87368" y="4160520"/>
            <a:ext cx="3310128" cy="2148840"/>
          </a:xfrm>
          <a:prstGeom prst="rect">
            <a:avLst/>
          </a:prstGeom>
          <a:solidFill>
            <a:srgbClr val="F9FAFB"/>
          </a:solidFill>
          <a:ln w="9525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88536" y="4343400"/>
            <a:ext cx="290779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140">
                <a:solidFill>
                  <a:srgbClr val="035582"/>
                </a:solidFill>
                <a:latin typeface="Segoe UI"/>
              </a:rPr>
              <a:t>DATA SECURITY &amp; PRIVACY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88536" y="4690872"/>
            <a:ext cx="2907792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121821"/>
                </a:solidFill>
                <a:latin typeface="Segoe UI"/>
              </a:rPr>
              <a:t>PBKDF2-hashed credentials, de-identified correlation, no committed secrets, append-only audit.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967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spc="150">
                <a:solidFill>
                  <a:srgbClr val="8792A1"/>
                </a:solidFill>
                <a:latin typeface="Segoe UI"/>
              </a:rPr>
              <a:t>MULTILINGUAL AI CLINICAL ASSISTANT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82935" y="651967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spc="150">
                <a:solidFill>
                  <a:srgbClr val="8792A1"/>
                </a:solidFill>
                <a:latin typeface="Segoe UI"/>
              </a:rPr>
              <a:t>03 / 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572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220">
                <a:solidFill>
                  <a:srgbClr val="035582"/>
                </a:solidFill>
                <a:latin typeface="Segoe UI"/>
              </a:rPr>
              <a:t>04 — ETHICAL &amp; RESPONSIBLE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21821"/>
                </a:solidFill>
                <a:latin typeface="Segoe UI"/>
              </a:rPr>
              <a:t>Guardrails the demo can't skip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481328"/>
            <a:ext cx="11002975" cy="0"/>
          </a:xfrm>
          <a:prstGeom prst="line">
            <a:avLst/>
          </a:prstGeom>
          <a:ln w="12700">
            <a:solidFill>
              <a:srgbClr val="E1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94360" y="1828800"/>
            <a:ext cx="3410712" cy="4206240"/>
          </a:xfrm>
          <a:prstGeom prst="rect">
            <a:avLst/>
          </a:prstGeom>
          <a:solidFill>
            <a:srgbClr val="F9FAFB"/>
          </a:solidFill>
          <a:ln w="9525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22960" y="2084832"/>
            <a:ext cx="146304" cy="146304"/>
          </a:xfrm>
          <a:prstGeom prst="ellipse">
            <a:avLst/>
          </a:prstGeom>
          <a:solidFill>
            <a:srgbClr val="B42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9848" y="2029968"/>
            <a:ext cx="272491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60">
                <a:solidFill>
                  <a:srgbClr val="121821"/>
                </a:solidFill>
                <a:latin typeface="Segoe UI"/>
              </a:rPr>
              <a:t>GUARDRAILS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22960" y="2487168"/>
            <a:ext cx="2953512" cy="0"/>
          </a:xfrm>
          <a:prstGeom prst="line">
            <a:avLst/>
          </a:prstGeom>
          <a:ln w="9525">
            <a:solidFill>
              <a:srgbClr val="E1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22960" y="2697480"/>
            <a:ext cx="2953512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8000"/>
              </a:lnSpc>
              <a:spcAft>
                <a:spcPts val="1000"/>
              </a:spcAft>
            </a:pPr>
            <a:r>
              <a:rPr sz="1200" b="0">
                <a:solidFill>
                  <a:srgbClr val="121821"/>
                </a:solidFill>
                <a:latin typeface="Segoe UI"/>
              </a:rPr>
              <a:t>—  URGENT cases never reach the prescription pathway, full stop.</a:t>
            </a:r>
          </a:p>
          <a:p>
            <a:pPr>
              <a:lnSpc>
                <a:spcPct val="128000"/>
              </a:lnSpc>
              <a:spcAft>
                <a:spcPts val="1000"/>
              </a:spcAft>
            </a:pPr>
            <a:r>
              <a:rPr sz="1200" b="0">
                <a:solidFill>
                  <a:srgbClr val="121821"/>
                </a:solidFill>
                <a:latin typeface="Segoe UI"/>
              </a:rPr>
              <a:t>—  An allergy conflict always blocks a draft before it's stored.</a:t>
            </a:r>
          </a:p>
          <a:p>
            <a:pPr>
              <a:lnSpc>
                <a:spcPct val="128000"/>
              </a:lnSpc>
              <a:spcAft>
                <a:spcPts val="1000"/>
              </a:spcAft>
            </a:pPr>
            <a:r>
              <a:rPr sz="1200" b="0">
                <a:solidFill>
                  <a:srgbClr val="121821"/>
                </a:solidFill>
                <a:latin typeface="Segoe UI"/>
              </a:rPr>
              <a:t>—  A translation that alters a dose or number is rejected automatically.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5112" y="1828800"/>
            <a:ext cx="3410712" cy="4206240"/>
          </a:xfrm>
          <a:prstGeom prst="rect">
            <a:avLst/>
          </a:prstGeom>
          <a:solidFill>
            <a:srgbClr val="F9FAFB"/>
          </a:solidFill>
          <a:ln w="9525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553712" y="2084832"/>
            <a:ext cx="146304" cy="146304"/>
          </a:xfrm>
          <a:prstGeom prst="ellipse">
            <a:avLst/>
          </a:prstGeom>
          <a:solidFill>
            <a:srgbClr val="0355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00600" y="2029968"/>
            <a:ext cx="272491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60">
                <a:solidFill>
                  <a:srgbClr val="121821"/>
                </a:solidFill>
                <a:latin typeface="Segoe UI"/>
              </a:rPr>
              <a:t>MONITORING &amp; OBSERVABILITY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53712" y="2487168"/>
            <a:ext cx="2953512" cy="0"/>
          </a:xfrm>
          <a:prstGeom prst="line">
            <a:avLst/>
          </a:prstGeom>
          <a:ln w="9525">
            <a:solidFill>
              <a:srgbClr val="E1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553712" y="2697480"/>
            <a:ext cx="2953512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8000"/>
              </a:lnSpc>
              <a:spcAft>
                <a:spcPts val="1000"/>
              </a:spcAft>
            </a:pPr>
            <a:r>
              <a:rPr sz="1200" b="0">
                <a:solidFill>
                  <a:srgbClr val="121821"/>
                </a:solidFill>
                <a:latin typeface="Segoe UI"/>
              </a:rPr>
              <a:t>—  Every decision is written to an append-only audit log.</a:t>
            </a:r>
          </a:p>
          <a:p>
            <a:pPr>
              <a:lnSpc>
                <a:spcPct val="128000"/>
              </a:lnSpc>
              <a:spcAft>
                <a:spcPts val="1000"/>
              </a:spcAft>
            </a:pPr>
            <a:r>
              <a:rPr sz="1200" b="0">
                <a:solidFill>
                  <a:srgbClr val="121821"/>
                </a:solidFill>
                <a:latin typeface="Segoe UI"/>
              </a:rPr>
              <a:t>—  Doctors see a live safety scorecard before they act.</a:t>
            </a:r>
          </a:p>
          <a:p>
            <a:pPr>
              <a:lnSpc>
                <a:spcPct val="128000"/>
              </a:lnSpc>
              <a:spcAft>
                <a:spcPts val="1000"/>
              </a:spcAft>
            </a:pPr>
            <a:r>
              <a:rPr sz="1200" b="0">
                <a:solidFill>
                  <a:srgbClr val="121821"/>
                </a:solidFill>
                <a:latin typeface="Segoe UI"/>
              </a:rPr>
              <a:t>—  An AI-confidence panel shows what matched, and why.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55864" y="1828800"/>
            <a:ext cx="3410712" cy="4206240"/>
          </a:xfrm>
          <a:prstGeom prst="rect">
            <a:avLst/>
          </a:prstGeom>
          <a:solidFill>
            <a:srgbClr val="F9FAFB"/>
          </a:solidFill>
          <a:ln w="9525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284464" y="2084832"/>
            <a:ext cx="146304" cy="146304"/>
          </a:xfrm>
          <a:prstGeom prst="ellipse">
            <a:avLst/>
          </a:prstGeom>
          <a:solidFill>
            <a:srgbClr val="1C69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31352" y="2029968"/>
            <a:ext cx="272491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60">
                <a:solidFill>
                  <a:srgbClr val="121821"/>
                </a:solidFill>
                <a:latin typeface="Segoe UI"/>
              </a:rPr>
              <a:t>ELIMINATING BIAS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284464" y="2487168"/>
            <a:ext cx="2953512" cy="0"/>
          </a:xfrm>
          <a:prstGeom prst="line">
            <a:avLst/>
          </a:prstGeom>
          <a:ln w="9525">
            <a:solidFill>
              <a:srgbClr val="E1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284464" y="2697480"/>
            <a:ext cx="2953512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8000"/>
              </a:lnSpc>
              <a:spcAft>
                <a:spcPts val="1000"/>
              </a:spcAft>
            </a:pPr>
            <a:r>
              <a:rPr sz="1200" b="0">
                <a:solidFill>
                  <a:srgbClr val="121821"/>
                </a:solidFill>
                <a:latin typeface="Segoe UI"/>
              </a:rPr>
              <a:t>—  Risk classification is deterministic, not model-judged — the LLM cannot silently escalate or downplay a case.</a:t>
            </a:r>
          </a:p>
          <a:p>
            <a:pPr>
              <a:lnSpc>
                <a:spcPct val="128000"/>
              </a:lnSpc>
              <a:spcAft>
                <a:spcPts val="1000"/>
              </a:spcAft>
            </a:pPr>
            <a:r>
              <a:rPr sz="1200" b="0">
                <a:solidFill>
                  <a:srgbClr val="121821"/>
                </a:solidFill>
                <a:latin typeface="Segoe UI"/>
              </a:rPr>
              <a:t>—  The ML classifier is reference-only: it can suggest a condition, never a medicine.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967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spc="150">
                <a:solidFill>
                  <a:srgbClr val="8792A1"/>
                </a:solidFill>
                <a:latin typeface="Segoe UI"/>
              </a:rPr>
              <a:t>MULTILINGUAL AI CLINICAL ASSISTANT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82935" y="651967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spc="150">
                <a:solidFill>
                  <a:srgbClr val="8792A1"/>
                </a:solidFill>
                <a:latin typeface="Segoe UI"/>
              </a:rPr>
              <a:t>04 / 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472</Words>
  <Application>Microsoft Office PowerPoint</Application>
  <PresentationFormat>Widescreen</PresentationFormat>
  <Paragraphs>59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SRIJIT NANDAN - 245891194 - MITBLR</cp:lastModifiedBy>
  <cp:revision>3</cp:revision>
  <dcterms:created xsi:type="dcterms:W3CDTF">2013-01-27T09:14:16Z</dcterms:created>
  <dcterms:modified xsi:type="dcterms:W3CDTF">2026-08-09T23:58:27Z</dcterms:modified>
  <cp:category/>
</cp:coreProperties>
</file>