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01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821"/>
                </a:solidFill>
                <a:latin typeface="Segoe UI"/>
              </a:rPr>
              <a:t>Multilingual AI Clinical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62763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97A"/>
                </a:solidFill>
                <a:latin typeface="Segoe UI"/>
              </a:rPr>
              <a:t>Patients describe symptoms in their own language. A doctor decides every prescription.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42227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754880" cy="90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121821"/>
                </a:solidFill>
                <a:latin typeface="Segoe UI"/>
              </a:rPr>
              <a:t>India has roughly one doctor per 1,700 people, and most digital triage tools assume fluent English. Patients under-describe symptoms in a second language, and a junior doctor has no easy way to see how a similar case was </a:t>
            </a:r>
            <a:r>
              <a:rPr lang="en-GB" sz="1200" b="0" dirty="0">
                <a:solidFill>
                  <a:srgbClr val="121821"/>
                </a:solidFill>
                <a:latin typeface="Segoe UI"/>
              </a:rPr>
              <a:t>handled</a:t>
            </a:r>
            <a:r>
              <a:rPr sz="1200" b="0" dirty="0">
                <a:solidFill>
                  <a:srgbClr val="121821"/>
                </a:solidFill>
                <a:latin typeface="Segoe UI"/>
              </a:rPr>
              <a:t> before.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8600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WHO IT'S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21821"/>
                </a:solidFill>
                <a:latin typeface="Segoe UI"/>
              </a:rPr>
              <a:t>Multilingual patients — 8 languages, voice or text. Primary-care doctors and small clinics. Returning patients whose history should count for something the next time they're seen.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43484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633993"/>
                </a:solidFill>
                <a:latin typeface="Segoe UI"/>
              </a:rPr>
              <a:t>WHAT IT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754880" cy="90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121821"/>
                </a:solidFill>
                <a:latin typeface="Segoe UI"/>
              </a:rPr>
              <a:t>AI-guided multilingual intake -&gt; deterministic safety triage -&gt; RAG-grounded draft prescription -&gt; doctor review -&gt; translated release. </a:t>
            </a:r>
            <a:r>
              <a:rPr lang="en-GB" sz="1200" b="0" dirty="0">
                <a:solidFill>
                  <a:srgbClr val="121821"/>
                </a:solidFill>
                <a:latin typeface="Segoe UI"/>
              </a:rPr>
              <a:t>Plus,</a:t>
            </a:r>
            <a:r>
              <a:rPr sz="1200" b="0" dirty="0">
                <a:solidFill>
                  <a:srgbClr val="121821"/>
                </a:solidFill>
                <a:latin typeface="Segoe UI"/>
              </a:rPr>
              <a:t> live in-person interpretation for severe cases, and de-identified peer-case decision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43484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1C6945"/>
                </a:solidFill>
                <a:latin typeface="Segoe UI"/>
              </a:rPr>
              <a:t>WHY IT PAYS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21821"/>
                </a:solidFill>
                <a:latin typeface="Segoe UI"/>
              </a:rPr>
              <a:t>A doctor reviews one structured summary instead of a raw transcript. The system runs on a deterministic fallback at zero LLM cost if needed, and medication is always drawn from a curated formulary — never invented.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02 — INNOVATION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The AI drafts. The doctor decides.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7830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WHAT'S ACTUALLY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A deterministic safety engine — not the LLM — is the sole authority on risk. A model can raise concern; it can never lower it.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Prescriptions are retrieved verbatim from a curated formulary via RAG. An LLM only ever writes the rationale text.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De-identified similar-case retrieval surfaces how other doctors handled a comparable presentation — clinical content and experience only, patient identity never included.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A live consultation mode turns the doctor's device into a real-time bidirectional interpreter and scribe for in-person severe cases.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212080" cy="4343400"/>
          </a:xfrm>
          <a:prstGeom prst="rect">
            <a:avLst/>
          </a:prstGeom>
          <a:solidFill>
            <a:srgbClr val="ECF8FE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REQUEST FLOW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2496312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244144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Patient — chat or voice, 8 languages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14516" y="2670048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355080" y="3008376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9535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LLM extraction — structured facts only, never a diagnosis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3182112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55080" y="3520440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4655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Deterministic safety engine — LOW_RISK / UNCERTAIN / URGENT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3694176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55080" y="4032504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39776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RAG retrieval — TF-IDF formulary match, ML tie-break only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4516" y="4206240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55080" y="4544568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44897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Doctor review — approve, modify, refer, or escalate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14516" y="4718304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55080" y="5056632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500176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Translated release — back to the patient, doctor-gated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69671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8792A1"/>
                </a:solidFill>
                <a:latin typeface="Segoe UI"/>
              </a:rPr>
              <a:t>Providers: IBM Granite (primary) - </a:t>
            </a:r>
            <a:r>
              <a:rPr sz="1050" b="0" dirty="0" err="1">
                <a:solidFill>
                  <a:srgbClr val="8792A1"/>
                </a:solidFill>
                <a:latin typeface="Segoe UI"/>
              </a:rPr>
              <a:t>Groq</a:t>
            </a:r>
            <a:r>
              <a:rPr sz="1050" b="0" dirty="0">
                <a:solidFill>
                  <a:srgbClr val="8792A1"/>
                </a:solidFill>
                <a:latin typeface="Segoe UI"/>
              </a:rPr>
              <a:t> - Gemini - NVIDIA - OpenAI - DeepSeek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03 — TECHNICAL DEPTH: NON-FUNCTIONAL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Built to fail closed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PROMPT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13432"/>
            <a:ext cx="2907792" cy="641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121821"/>
                </a:solidFill>
                <a:latin typeface="Segoe UI"/>
              </a:rPr>
              <a:t>Role-scoped prompts — the extraction prompt never </a:t>
            </a:r>
            <a:r>
              <a:rPr lang="en-GB" sz="1150" b="0" dirty="0">
                <a:solidFill>
                  <a:srgbClr val="121821"/>
                </a:solidFill>
                <a:latin typeface="Segoe UI"/>
              </a:rPr>
              <a:t>diagnoses;</a:t>
            </a:r>
            <a:r>
              <a:rPr sz="1150" b="0" dirty="0">
                <a:solidFill>
                  <a:srgbClr val="121821"/>
                </a:solidFill>
                <a:latin typeface="Segoe UI"/>
              </a:rPr>
              <a:t> the rationale prompt never selects a drug.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HALLUCINATION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231343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JSON-mode output, temperature 0, additive-only merges. Medications are copied from the formulary, never generated.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0376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81544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2313432"/>
            <a:ext cx="2907792" cy="862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IN" sz="1150" dirty="0">
                <a:solidFill>
                  <a:srgbClr val="121821"/>
                </a:solidFill>
                <a:latin typeface="Segoe UI"/>
              </a:rPr>
              <a:t>Multi</a:t>
            </a:r>
            <a:r>
              <a:rPr sz="1150" b="0" dirty="0">
                <a:solidFill>
                  <a:srgbClr val="121821"/>
                </a:solidFill>
                <a:latin typeface="Segoe UI"/>
              </a:rPr>
              <a:t>-provider LLM fallback chain, plus a fully offline deterministic question bank that keeps intake working with zero providers configured.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6052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434340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AGENT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69087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One safety engine, exercised identically on every path — chat intake, live consultation, and re-assessment after new facts arrive.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416052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88536" y="434340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DATA SECURITY &amp;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469087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PBKDF2-hashed doctor credentials, de-identified cross-patient correlation, secrets never committed, every decision append-only audited.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04 — ETHICAL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Guardrails the demo can't skip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146304" cy="146304"/>
          </a:xfrm>
          <a:prstGeom prst="ellipse">
            <a:avLst/>
          </a:prstGeom>
          <a:solidFill>
            <a:srgbClr val="B4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GUARDRAILS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URGENT cases never reach the prescription pathway, full stop.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An allergy conflict always blocks a draft before it's stored.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 translation that alters a dose or number is rejected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3712" y="2084832"/>
            <a:ext cx="146304" cy="146304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MONITORING &amp; OBSERVABILITY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3712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Every decision is written to an append-only audit log.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Doctors see a live safety scorecard before they act.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An AI-confidence panel shows what matched,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84464" y="2084832"/>
            <a:ext cx="146304" cy="146304"/>
          </a:xfrm>
          <a:prstGeom prst="ellipse">
            <a:avLst/>
          </a:prstGeom>
          <a:solidFill>
            <a:srgbClr val="1C6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31352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ELIMINATING BIAS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84464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4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Risk classification is deterministic, not model-judged — the LLM cannot silently escalate or downplay a case.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The ML classifier is reference-only: it can suggest a condition, never a medicine.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636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SRIJIT NANDAN - 245891194 - MITBLR</cp:lastModifiedBy>
  <cp:revision>2</cp:revision>
  <dcterms:created xsi:type="dcterms:W3CDTF">2013-01-27T09:14:16Z</dcterms:created>
  <dcterms:modified xsi:type="dcterms:W3CDTF">2026-08-09T22:07:17Z</dcterms:modified>
  <cp:category/>
</cp:coreProperties>
</file>